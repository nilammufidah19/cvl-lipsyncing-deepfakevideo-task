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" charset="1" panose="00000500000000000000"/>
      <p:regular r:id="rId19"/>
    </p:embeddedFont>
    <p:embeddedFont>
      <p:font typeface="Poppins Bold" charset="1" panose="00000800000000000000"/>
      <p:regular r:id="rId20"/>
    </p:embeddedFont>
    <p:embeddedFont>
      <p:font typeface="Arimo" charset="1" panose="020B0604020202020204"/>
      <p:regular r:id="rId21"/>
    </p:embeddedFont>
    <p:embeddedFont>
      <p:font typeface="Poppins Italics" charset="1" panose="00000500000000000000"/>
      <p:regular r:id="rId22"/>
    </p:embeddedFont>
    <p:embeddedFont>
      <p:font typeface="Pacifico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0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1.png" Type="http://schemas.openxmlformats.org/officeDocument/2006/relationships/image"/><Relationship Id="rId4" Target="../embeddings/oleObject2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4.png" Type="http://schemas.openxmlformats.org/officeDocument/2006/relationships/image"/><Relationship Id="rId4" Target="../embeddings/oleObject3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41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37618" y="2836258"/>
            <a:ext cx="9150668" cy="6091904"/>
          </a:xfrm>
          <a:custGeom>
            <a:avLst/>
            <a:gdLst/>
            <a:ahLst/>
            <a:cxnLst/>
            <a:rect r="r" b="b" t="t" l="l"/>
            <a:pathLst>
              <a:path h="6091904" w="9150668">
                <a:moveTo>
                  <a:pt x="0" y="0"/>
                </a:moveTo>
                <a:lnTo>
                  <a:pt x="9150667" y="0"/>
                </a:lnTo>
                <a:lnTo>
                  <a:pt x="9150667" y="6091904"/>
                </a:lnTo>
                <a:lnTo>
                  <a:pt x="0" y="6091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029873" y="2508408"/>
            <a:ext cx="266889" cy="7834788"/>
            <a:chOff x="0" y="0"/>
            <a:chExt cx="355852" cy="104463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5854" cy="10446385"/>
            </a:xfrm>
            <a:custGeom>
              <a:avLst/>
              <a:gdLst/>
              <a:ahLst/>
              <a:cxnLst/>
              <a:rect r="r" b="b" t="t" l="l"/>
              <a:pathLst>
                <a:path h="10446385" w="355854">
                  <a:moveTo>
                    <a:pt x="0" y="0"/>
                  </a:moveTo>
                  <a:lnTo>
                    <a:pt x="355854" y="0"/>
                  </a:lnTo>
                  <a:lnTo>
                    <a:pt x="355854" y="10446385"/>
                  </a:lnTo>
                  <a:lnTo>
                    <a:pt x="0" y="10446385"/>
                  </a:lnTo>
                  <a:close/>
                </a:path>
              </a:pathLst>
            </a:custGeom>
            <a:solidFill>
              <a:srgbClr val="FDD40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029873" y="23624"/>
            <a:ext cx="266889" cy="2508408"/>
            <a:chOff x="0" y="0"/>
            <a:chExt cx="355852" cy="33445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5854" cy="3344545"/>
            </a:xfrm>
            <a:custGeom>
              <a:avLst/>
              <a:gdLst/>
              <a:ahLst/>
              <a:cxnLst/>
              <a:rect r="r" b="b" t="t" l="l"/>
              <a:pathLst>
                <a:path h="3344545" w="355854">
                  <a:moveTo>
                    <a:pt x="0" y="0"/>
                  </a:moveTo>
                  <a:lnTo>
                    <a:pt x="355854" y="0"/>
                  </a:lnTo>
                  <a:lnTo>
                    <a:pt x="355854" y="3344545"/>
                  </a:lnTo>
                  <a:lnTo>
                    <a:pt x="0" y="3344545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982980" y="5549691"/>
            <a:ext cx="5848187" cy="242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khlasul Amal</a:t>
            </a:r>
          </a:p>
          <a:p>
            <a:pPr algn="l">
              <a:lnSpc>
                <a:spcPts val="3862"/>
              </a:lnSpc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Magnolia Gina Ro'fataka Satriorini</a:t>
            </a:r>
          </a:p>
          <a:p>
            <a:pPr algn="l">
              <a:lnSpc>
                <a:spcPts val="3862"/>
              </a:lnSpc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Nilam Mufidah</a:t>
            </a:r>
          </a:p>
          <a:p>
            <a:pPr algn="l">
              <a:lnSpc>
                <a:spcPts val="3860"/>
              </a:lnSpc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Sisi Florensia</a:t>
            </a:r>
          </a:p>
          <a:p>
            <a:pPr algn="l">
              <a:lnSpc>
                <a:spcPts val="3862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5137214"/>
            <a:ext cx="1165764" cy="48387"/>
            <a:chOff x="0" y="0"/>
            <a:chExt cx="1554352" cy="645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4353" cy="64516"/>
            </a:xfrm>
            <a:custGeom>
              <a:avLst/>
              <a:gdLst/>
              <a:ahLst/>
              <a:cxnLst/>
              <a:rect r="r" b="b" t="t" l="l"/>
              <a:pathLst>
                <a:path h="64516" w="1554353">
                  <a:moveTo>
                    <a:pt x="0" y="0"/>
                  </a:moveTo>
                  <a:lnTo>
                    <a:pt x="1554353" y="0"/>
                  </a:lnTo>
                  <a:lnTo>
                    <a:pt x="1554353" y="64516"/>
                  </a:lnTo>
                  <a:lnTo>
                    <a:pt x="0" y="64516"/>
                  </a:lnTo>
                  <a:close/>
                </a:path>
              </a:pathLst>
            </a:custGeom>
            <a:solidFill>
              <a:srgbClr val="FDD40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1617726"/>
            <a:ext cx="12684251" cy="290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2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  <a:r>
              <a:rPr lang="en-US" sz="62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eteksi Deepfake Video Berbasis VTT Vision Temporal Transformer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687106"/>
            <a:ext cx="6749640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621">
                <a:solidFill>
                  <a:srgbClr val="FFFFFF">
                    <a:alpha val="63922"/>
                  </a:srgbClr>
                </a:solidFill>
                <a:latin typeface="Arimo"/>
                <a:ea typeface="Arimo"/>
                <a:cs typeface="Arimo"/>
                <a:sym typeface="Arimo"/>
              </a:rPr>
              <a:t>LOCALLY ROOTED,</a:t>
            </a:r>
          </a:p>
          <a:p>
            <a:pPr algn="l">
              <a:lnSpc>
                <a:spcPts val="3780"/>
              </a:lnSpc>
            </a:pPr>
            <a:r>
              <a:rPr lang="en-US" sz="2100" spc="621">
                <a:solidFill>
                  <a:srgbClr val="FFFFFF">
                    <a:alpha val="63922"/>
                  </a:srgbClr>
                </a:solidFill>
                <a:latin typeface="Arimo"/>
                <a:ea typeface="Arimo"/>
                <a:cs typeface="Arimo"/>
                <a:sym typeface="Arimo"/>
              </a:rPr>
              <a:t>GLOBALLY RESPECTED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06915" y="9191054"/>
            <a:ext cx="1827768" cy="41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450">
                <a:solidFill>
                  <a:srgbClr val="FFFFFF">
                    <a:alpha val="63922"/>
                  </a:srgbClr>
                </a:solidFill>
                <a:latin typeface="Arimo"/>
                <a:ea typeface="Arimo"/>
                <a:cs typeface="Arimo"/>
                <a:sym typeface="Arimo"/>
              </a:rPr>
              <a:t>ugm.ac.id</a:t>
            </a:r>
          </a:p>
        </p:txBody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742663" y="365656"/>
            <a:ext cx="4556578" cy="1299695"/>
            <a:chOff x="0" y="0"/>
            <a:chExt cx="6075438" cy="17329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75426" cy="1732915"/>
            </a:xfrm>
            <a:custGeom>
              <a:avLst/>
              <a:gdLst/>
              <a:ahLst/>
              <a:cxnLst/>
              <a:rect r="r" b="b" t="t" l="l"/>
              <a:pathLst>
                <a:path h="1732915" w="6075426">
                  <a:moveTo>
                    <a:pt x="0" y="0"/>
                  </a:moveTo>
                  <a:lnTo>
                    <a:pt x="6075426" y="0"/>
                  </a:lnTo>
                  <a:lnTo>
                    <a:pt x="6075426" y="1732915"/>
                  </a:lnTo>
                  <a:lnTo>
                    <a:pt x="0" y="17329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41574" y="4493146"/>
            <a:ext cx="1937272" cy="1943313"/>
          </a:xfrm>
          <a:custGeom>
            <a:avLst/>
            <a:gdLst/>
            <a:ahLst/>
            <a:cxnLst/>
            <a:rect r="r" b="b" t="t" l="l"/>
            <a:pathLst>
              <a:path h="1943313" w="1937272">
                <a:moveTo>
                  <a:pt x="0" y="0"/>
                </a:moveTo>
                <a:lnTo>
                  <a:pt x="1937272" y="0"/>
                </a:lnTo>
                <a:lnTo>
                  <a:pt x="1937272" y="1943313"/>
                </a:lnTo>
                <a:lnTo>
                  <a:pt x="0" y="194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47827" y="1320057"/>
            <a:ext cx="13303153" cy="172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7"/>
              </a:lnSpc>
              <a:spcBef>
                <a:spcPct val="0"/>
              </a:spcBef>
            </a:pPr>
            <a:r>
              <a:rPr lang="en-US" b="true" sz="4555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Ancaman Deepfake yang Semakin Meningkat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7827" y="3916297"/>
            <a:ext cx="12122597" cy="354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Teknol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ogi generatif (GANs) menciptakan video palsu dengan realisme yang mengkhawatirkan, mengancam integritas media dan kepercayaan publik.</a:t>
            </a:r>
          </a:p>
          <a:p>
            <a:pPr algn="just">
              <a:lnSpc>
                <a:spcPts val="4009"/>
              </a:lnSpc>
              <a:spcBef>
                <a:spcPct val="0"/>
              </a:spcBef>
            </a:pPr>
          </a:p>
          <a:p>
            <a:pPr algn="just">
              <a:lnSpc>
                <a:spcPts val="4011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Kebutuhan akan mekanisme deteksi yang andal dan mampu mengidentifikasi artefak manipulasi yang halus menjadi sangat mendesak.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19538" y="4815875"/>
            <a:ext cx="14248924" cy="2653862"/>
          </a:xfrm>
          <a:custGeom>
            <a:avLst/>
            <a:gdLst/>
            <a:ahLst/>
            <a:cxnLst/>
            <a:rect r="r" b="b" t="t" l="l"/>
            <a:pathLst>
              <a:path h="2653862" w="14248924">
                <a:moveTo>
                  <a:pt x="0" y="0"/>
                </a:moveTo>
                <a:lnTo>
                  <a:pt x="14248924" y="0"/>
                </a:lnTo>
                <a:lnTo>
                  <a:pt x="14248924" y="2653862"/>
                </a:lnTo>
                <a:lnTo>
                  <a:pt x="0" y="2653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19538" y="1368005"/>
            <a:ext cx="14248924" cy="796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8"/>
              </a:lnSpc>
              <a:spcBef>
                <a:spcPct val="0"/>
              </a:spcBef>
            </a:pPr>
            <a:r>
              <a:rPr lang="en-US" b="true" sz="4299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Cel</a:t>
            </a:r>
            <a:r>
              <a:rPr lang="en-US" b="true" sz="4299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ah Deteksi Saat Ini: Fokus pada Artefak Spasial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6653" y="2597129"/>
            <a:ext cx="15194694" cy="1873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5"/>
              </a:lnSpc>
            </a:pP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Banyak metode deteksi kontemporer hanya berfokus pada analisis artefak spasial dalam satu frame video.</a:t>
            </a:r>
          </a:p>
          <a:p>
            <a:pPr algn="ctr" marL="0" indent="0" lvl="0">
              <a:lnSpc>
                <a:spcPts val="2975"/>
              </a:lnSpc>
            </a:pPr>
          </a:p>
          <a:p>
            <a:pPr algn="ctr" marL="0" indent="0" lvl="0">
              <a:lnSpc>
                <a:spcPts val="2975"/>
              </a:lnSpc>
            </a:pP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Padahal, kerentanan utama deepfake seringkali termanifestasi sebagai inkonsistensi temporal kegagalan 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mempertahankan konsistensi artefak fisik atau fisiologis antar-frame.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19538" y="7538672"/>
            <a:ext cx="9351518" cy="198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4192" indent="-192096" lvl="1">
              <a:lnSpc>
                <a:spcPts val="2642"/>
              </a:lnSpc>
              <a:spcBef>
                <a:spcPct val="0"/>
              </a:spcBef>
              <a:buAutoNum type="arabicPeriod" startAt="1"/>
            </a:pPr>
            <a:r>
              <a:rPr lang="en-US" b="true" sz="1779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Frame Awal:</a:t>
            </a:r>
            <a:r>
              <a:rPr lang="en-US" sz="177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Artefak tidak terlihat.</a:t>
            </a:r>
          </a:p>
          <a:p>
            <a:pPr algn="just" marL="384192" indent="-192096" lvl="1">
              <a:lnSpc>
                <a:spcPts val="2642"/>
              </a:lnSpc>
              <a:spcBef>
                <a:spcPct val="0"/>
              </a:spcBef>
              <a:buAutoNum type="arabicPeriod" startAt="1"/>
            </a:pPr>
            <a:r>
              <a:rPr lang="en-US" b="true" sz="1779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Inkonsistensi Mikro:</a:t>
            </a:r>
            <a:r>
              <a:rPr lang="en-US" sz="177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Artefak halus (misalnya pikselasi) muncul dalam sekejap.</a:t>
            </a:r>
          </a:p>
          <a:p>
            <a:pPr algn="just" marL="384192" indent="-192096" lvl="1">
              <a:lnSpc>
                <a:spcPts val="2642"/>
              </a:lnSpc>
              <a:spcBef>
                <a:spcPct val="0"/>
              </a:spcBef>
              <a:buAutoNum type="arabicPeriod" startAt="1"/>
            </a:pPr>
            <a:r>
              <a:rPr lang="en-US" b="true" sz="1779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Frame Berikutnya: </a:t>
            </a:r>
            <a:r>
              <a:rPr lang="en-US" sz="177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Artefak menghitang atau berubah bentuk.</a:t>
            </a:r>
          </a:p>
          <a:p>
            <a:pPr algn="just" marL="384192" indent="-192096" lvl="1">
              <a:lnSpc>
                <a:spcPts val="2643"/>
              </a:lnSpc>
              <a:spcBef>
                <a:spcPct val="0"/>
              </a:spcBef>
              <a:buAutoNum type="arabicPeriod" startAt="1"/>
            </a:pPr>
            <a:r>
              <a:rPr lang="en-US" b="true" sz="1779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Pola Inkonsistensi:</a:t>
            </a:r>
            <a:r>
              <a:rPr lang="en-US" sz="177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Ketidakselarasan ini terjadi berulang kali di sepanjang video, menjadi petunjuk kunci.</a:t>
            </a:r>
            <a:r>
              <a:rPr lang="en-US" sz="177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 marL="0" indent="0" lvl="0">
              <a:lnSpc>
                <a:spcPts val="2643"/>
              </a:lnSpc>
              <a:spcBef>
                <a:spcPct val="0"/>
              </a:spcBef>
            </a:pPr>
            <a:r>
              <a:rPr lang="en-US" sz="177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79346" y="4919565"/>
            <a:ext cx="11929307" cy="1938512"/>
          </a:xfrm>
          <a:custGeom>
            <a:avLst/>
            <a:gdLst/>
            <a:ahLst/>
            <a:cxnLst/>
            <a:rect r="r" b="b" t="t" l="l"/>
            <a:pathLst>
              <a:path h="1938512" w="11929307">
                <a:moveTo>
                  <a:pt x="0" y="0"/>
                </a:moveTo>
                <a:lnTo>
                  <a:pt x="11929308" y="0"/>
                </a:lnTo>
                <a:lnTo>
                  <a:pt x="11929308" y="1938513"/>
                </a:lnTo>
                <a:lnTo>
                  <a:pt x="0" y="1938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92423" y="1242566"/>
            <a:ext cx="13303153" cy="172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7"/>
              </a:lnSpc>
              <a:spcBef>
                <a:spcPct val="0"/>
              </a:spcBef>
            </a:pPr>
            <a:r>
              <a:rPr lang="en-US" b="true" sz="4555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4555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endekatan Solusi: Model LIPINC untuk Analisis Spatio-Temporal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32624" y="7013067"/>
            <a:ext cx="4130040" cy="1873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5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1. Vision Temporal</a:t>
            </a:r>
          </a:p>
          <a:p>
            <a:pPr algn="ctr" marL="0" indent="0" lvl="0">
              <a:lnSpc>
                <a:spcPts val="2975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Transformer (VTT)</a:t>
            </a:r>
          </a:p>
          <a:p>
            <a:pPr algn="ctr" marL="0" indent="0" lvl="0">
              <a:lnSpc>
                <a:spcPts val="2975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2975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Menganalisis fitur di dalam</a:t>
            </a:r>
          </a:p>
          <a:p>
            <a:pPr algn="ctr" marL="0" indent="0" lvl="0">
              <a:lnSpc>
                <a:spcPts val="2975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dan di antara frame.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04624" y="7013067"/>
            <a:ext cx="4478752" cy="224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5"/>
              </a:lnSpc>
              <a:spcBef>
                <a:spcPct val="0"/>
              </a:spcBef>
            </a:pPr>
            <a:r>
              <a:rPr lang="en-US" b="true" sz="2399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  <a:r>
              <a:rPr lang="en-US" b="true" sz="2399" strike="noStrike" u="none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  <a:r>
              <a:rPr lang="en-US" b="true" sz="2399" strike="noStrike" u="none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2399" strike="noStrike" u="none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np</a:t>
            </a:r>
            <a:r>
              <a:rPr lang="en-US" b="true" sz="2399" strike="noStrike" u="none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ut G</a:t>
            </a:r>
            <a:r>
              <a:rPr lang="en-US" b="true" sz="2399" strike="noStrike" u="none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2399" strike="noStrike" u="none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nd</a:t>
            </a:r>
            <a:r>
              <a:rPr lang="en-US" b="true" sz="2399" strike="noStrike" u="none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a (</a:t>
            </a:r>
            <a:r>
              <a:rPr lang="en-US" b="true" sz="2399" strike="noStrike" u="none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Residu Temporal)</a:t>
            </a:r>
          </a:p>
          <a:p>
            <a:pPr algn="ctr" marL="0" indent="0" lvl="0">
              <a:lnSpc>
                <a:spcPts val="2975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2975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mperku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 si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 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</a:p>
          <a:p>
            <a:pPr algn="ctr" marL="0" indent="0" lvl="0">
              <a:lnSpc>
                <a:spcPts val="2975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dan in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konsis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ensi</a:t>
            </a:r>
          </a:p>
          <a:p>
            <a:pPr algn="ctr" marL="0" indent="0" lvl="0">
              <a:lnSpc>
                <a:spcPts val="2975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nsision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21526" y="7013067"/>
            <a:ext cx="4478752" cy="224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5"/>
              </a:lnSpc>
              <a:spcBef>
                <a:spcPct val="0"/>
              </a:spcBef>
            </a:pPr>
            <a:r>
              <a:rPr lang="en-US" b="true" sz="2399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  <a:r>
              <a:rPr lang="en-US" b="true" sz="2399" strike="noStrike" u="none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.Fun</a:t>
            </a:r>
            <a:r>
              <a:rPr lang="en-US" b="true" sz="2399" strike="noStrike" u="none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g</a:t>
            </a:r>
            <a:r>
              <a:rPr lang="en-US" b="true" sz="2399" strike="noStrike" u="none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si </a:t>
            </a:r>
            <a:r>
              <a:rPr lang="en-US" b="true" sz="2399" strike="noStrike" u="none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L</a:t>
            </a:r>
            <a:r>
              <a:rPr lang="en-US" b="true" sz="2399" strike="noStrike" u="none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2399" strike="noStrike" u="none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ss G</a:t>
            </a:r>
            <a:r>
              <a:rPr lang="en-US" b="true" sz="2399" strike="noStrike" u="none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2399" strike="noStrike" u="none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nda</a:t>
            </a:r>
          </a:p>
          <a:p>
            <a:pPr algn="ctr" marL="0" indent="0" lvl="0">
              <a:lnSpc>
                <a:spcPts val="2975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2975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2975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Mengopti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alkan klasifikasi</a:t>
            </a:r>
          </a:p>
          <a:p>
            <a:pPr algn="ctr" marL="0" indent="0" lvl="0">
              <a:lnSpc>
                <a:spcPts val="2975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sek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aligus mendorong</a:t>
            </a:r>
          </a:p>
          <a:p>
            <a:pPr algn="ctr" marL="0" indent="0" lvl="0">
              <a:lnSpc>
                <a:spcPts val="2975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konsistensi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fi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6653" y="3547443"/>
            <a:ext cx="15194694" cy="759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5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</a:t>
            </a: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LIPINC 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yang dirancang untuk secara simultan memodelkan hubungan spasial dan dependensi temporal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63881" y="3435457"/>
            <a:ext cx="10017794" cy="5822843"/>
          </a:xfrm>
          <a:custGeom>
            <a:avLst/>
            <a:gdLst/>
            <a:ahLst/>
            <a:cxnLst/>
            <a:rect r="r" b="b" t="t" l="l"/>
            <a:pathLst>
              <a:path h="5822843" w="10017794">
                <a:moveTo>
                  <a:pt x="0" y="0"/>
                </a:moveTo>
                <a:lnTo>
                  <a:pt x="10017793" y="0"/>
                </a:lnTo>
                <a:lnTo>
                  <a:pt x="10017793" y="5822843"/>
                </a:lnTo>
                <a:lnTo>
                  <a:pt x="0" y="5822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46653" y="661375"/>
            <a:ext cx="13303153" cy="863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7"/>
              </a:lnSpc>
              <a:spcBef>
                <a:spcPct val="0"/>
              </a:spcBef>
            </a:pPr>
            <a:r>
              <a:rPr lang="en-US" b="true" sz="4555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Arsitektur Model LIPNIC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5431" y="1939482"/>
            <a:ext cx="15194694" cy="113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5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Kedua aliran input (frame dan residu) di proses secara paralel oleh blok Vision Temporal Transformer. Fitur yang dihasilkan kemudian digabungkan menggunakan </a:t>
            </a:r>
            <a:r>
              <a:rPr lang="en-US" sz="2399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Multi-Head Attention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untuk menghasilkan klasifikasi akhir.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0267" y="3709046"/>
            <a:ext cx="11301259" cy="5085567"/>
          </a:xfrm>
          <a:custGeom>
            <a:avLst/>
            <a:gdLst/>
            <a:ahLst/>
            <a:cxnLst/>
            <a:rect r="r" b="b" t="t" l="l"/>
            <a:pathLst>
              <a:path h="5085567" w="11301259">
                <a:moveTo>
                  <a:pt x="0" y="0"/>
                </a:moveTo>
                <a:lnTo>
                  <a:pt x="11301259" y="0"/>
                </a:lnTo>
                <a:lnTo>
                  <a:pt x="11301259" y="5085566"/>
                </a:lnTo>
                <a:lnTo>
                  <a:pt x="0" y="50855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32624" y="1281312"/>
            <a:ext cx="13303153" cy="863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7"/>
              </a:lnSpc>
              <a:spcBef>
                <a:spcPct val="0"/>
              </a:spcBef>
            </a:pPr>
            <a:r>
              <a:rPr lang="en-US" b="true" sz="4555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Optimasi dengan Fungsi Loss Ganda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02796" y="4103461"/>
            <a:ext cx="4478752" cy="1502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5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Berfokus pada tugas utama, mengklasifikasikan video sebaagai </a:t>
            </a: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real 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atau </a:t>
            </a: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fake 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secara akurat.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05627" y="6799964"/>
            <a:ext cx="5253673" cy="224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5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Mendorong model untuk mempelajari representasi fitur yang konsisten dalam satu </a:t>
            </a:r>
            <a:r>
              <a:rPr lang="en-US" sz="2399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batch, 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sehingga lebih sensitif terhadap inkonsistensi yang melekat pada video </a:t>
            </a:r>
            <a:r>
              <a:rPr lang="en-US" sz="2399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deepfake.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6854" y="2501300"/>
            <a:ext cx="15194694" cy="759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5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dioptimalkan menggunakan dua fungsi loss secara bersamaan untuk mencapai tujuan yang saling melengkapi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9604771" y="3011642"/>
          <a:ext cx="7617047" cy="5172655"/>
        </p:xfrm>
        <a:graphic>
          <a:graphicData uri="http://schemas.openxmlformats.org/drawingml/2006/table">
            <a:tbl>
              <a:tblPr/>
              <a:tblGrid>
                <a:gridCol w="1692208"/>
                <a:gridCol w="2239027"/>
                <a:gridCol w="1642430"/>
                <a:gridCol w="2043382"/>
              </a:tblGrid>
              <a:tr h="10734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Konfigurasi 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62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Dataset Utama 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62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Jumlah Dataset 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62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Penggunaan MediaPipe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623"/>
                    </a:solidFill>
                  </a:tcPr>
                </a:tc>
              </a:tr>
              <a:tr h="7763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VI 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CelebDF V2 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 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Tidak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63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V2 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FaceForensics++ 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 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Tidak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63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V3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CelebDF,  FF++ 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Tidak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39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V4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FF++, DFD, DFDC  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Tidak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63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V5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FaceForensics++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6"/>
                        </a:lnSpc>
                        <a:defRPr/>
                      </a:pPr>
                      <a:r>
                        <a:rPr lang="en-US" sz="1711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Ya</a:t>
                      </a:r>
                      <a:endParaRPr lang="en-US" sz="1100"/>
                    </a:p>
                  </a:txBody>
                  <a:tcPr marL="159977" marR="159977" marT="159977" marB="159977" anchor="ctr">
                    <a:lnL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19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147827" y="1264455"/>
            <a:ext cx="13303153" cy="90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4"/>
              </a:lnSpc>
              <a:spcBef>
                <a:spcPct val="0"/>
              </a:spcBef>
            </a:pPr>
            <a:r>
              <a:rPr lang="en-US" b="true" sz="4755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Desain Eksperimen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7827" y="2983067"/>
            <a:ext cx="7397171" cy="470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Kinerja model dievaluasidalam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5 konfigurasi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berbeda untuk mengukur dampak dari skala data, keragaman dataset, dan teknik pra-pemrosesan.</a:t>
            </a:r>
          </a:p>
          <a:p>
            <a:pPr algn="just">
              <a:lnSpc>
                <a:spcPts val="3099"/>
              </a:lnSpc>
            </a:pPr>
          </a:p>
          <a:p>
            <a:pPr algn="just">
              <a:lnSpc>
                <a:spcPts val="30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yang digunakan: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CelebDF V2, FaceForensics++ (FF++), Deepfake Detection (DFD), dan Deepfake Detection Challenge (DFDC).</a:t>
            </a:r>
          </a:p>
          <a:p>
            <a:pPr algn="just">
              <a:lnSpc>
                <a:spcPts val="3099"/>
              </a:lnSpc>
            </a:pPr>
          </a:p>
          <a:p>
            <a:pPr algn="just" marL="0" indent="0" lvl="0">
              <a:lnSpc>
                <a:spcPts val="3099"/>
              </a:lnSpc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Metrik evaluasi: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ROC-AUC, Average Precision (AP), dan Intersection over Union (loU).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2004001" y="2766264"/>
          <a:ext cx="11315700" cy="6486525"/>
        </p:xfrm>
        <a:graphic>
          <a:graphicData uri="http://schemas.openxmlformats.org/presentationml/2006/ole">
            <p:oleObj imgW="13576300" imgH="87503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492423" y="1262408"/>
            <a:ext cx="13303153" cy="90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4"/>
              </a:lnSpc>
              <a:spcBef>
                <a:spcPct val="0"/>
              </a:spcBef>
            </a:pPr>
            <a:r>
              <a:rPr lang="en-US" b="true" sz="4755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Kombinasi Dataset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97640" y="8878230"/>
            <a:ext cx="2808129" cy="44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5"/>
              </a:lnSpc>
              <a:spcBef>
                <a:spcPct val="0"/>
              </a:spcBef>
            </a:pPr>
            <a:r>
              <a:rPr lang="en-US" b="true" sz="2400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[R]</a:t>
            </a:r>
            <a:r>
              <a:rPr lang="en-US" b="true" sz="2400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 Real   [F] Fake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38728" y="8910887"/>
            <a:ext cx="9251632" cy="390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100">
                <a:solidFill>
                  <a:srgbClr val="00416B"/>
                </a:solidFill>
                <a:latin typeface="Poppins"/>
                <a:ea typeface="Poppins"/>
                <a:cs typeface="Poppins"/>
                <a:sym typeface="Poppins"/>
              </a:rPr>
              <a:t>*</a:t>
            </a:r>
            <a:r>
              <a:rPr lang="en-US" sz="2100">
                <a:solidFill>
                  <a:srgbClr val="00416B"/>
                </a:solidFill>
                <a:latin typeface="Poppins"/>
                <a:ea typeface="Poppins"/>
                <a:cs typeface="Poppins"/>
                <a:sym typeface="Poppins"/>
              </a:rPr>
              <a:t>Dilakukan </a:t>
            </a:r>
            <a:r>
              <a:rPr lang="en-US" sz="2100" i="true">
                <a:solidFill>
                  <a:srgbClr val="00416B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undersampling</a:t>
            </a:r>
            <a:r>
              <a:rPr lang="en-US" sz="2100">
                <a:solidFill>
                  <a:srgbClr val="00416B"/>
                </a:solidFill>
                <a:latin typeface="Poppins"/>
                <a:ea typeface="Poppins"/>
                <a:cs typeface="Poppins"/>
                <a:sym typeface="Poppins"/>
              </a:rPr>
              <a:t> agar membentuk dataset yang seimbang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746740" y="2745641"/>
          <a:ext cx="11315700" cy="5943600"/>
        </p:xfrm>
        <a:graphic>
          <a:graphicData uri="http://schemas.openxmlformats.org/presentationml/2006/ole">
            <p:oleObj imgW="13576300" imgH="8204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492423" y="1218378"/>
            <a:ext cx="13303153" cy="90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4"/>
              </a:lnSpc>
              <a:spcBef>
                <a:spcPct val="0"/>
              </a:spcBef>
            </a:pPr>
            <a:r>
              <a:rPr lang="en-US" b="true" sz="4755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Hasil Eksperimen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37300" y="2863663"/>
            <a:ext cx="2711900" cy="4722918"/>
          </a:xfrm>
          <a:custGeom>
            <a:avLst/>
            <a:gdLst/>
            <a:ahLst/>
            <a:cxnLst/>
            <a:rect r="r" b="b" t="t" l="l"/>
            <a:pathLst>
              <a:path h="4722918" w="2711900">
                <a:moveTo>
                  <a:pt x="0" y="0"/>
                </a:moveTo>
                <a:lnTo>
                  <a:pt x="2711900" y="0"/>
                </a:lnTo>
                <a:lnTo>
                  <a:pt x="2711900" y="4722918"/>
                </a:lnTo>
                <a:lnTo>
                  <a:pt x="0" y="47229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0862" t="0" r="-8778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53153" y="2863663"/>
            <a:ext cx="2899647" cy="4722918"/>
          </a:xfrm>
          <a:custGeom>
            <a:avLst/>
            <a:gdLst/>
            <a:ahLst/>
            <a:cxnLst/>
            <a:rect r="r" b="b" t="t" l="l"/>
            <a:pathLst>
              <a:path h="4722918" w="2899647">
                <a:moveTo>
                  <a:pt x="0" y="0"/>
                </a:moveTo>
                <a:lnTo>
                  <a:pt x="2899647" y="0"/>
                </a:lnTo>
                <a:lnTo>
                  <a:pt x="2899647" y="4722918"/>
                </a:lnTo>
                <a:lnTo>
                  <a:pt x="0" y="4722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0662" t="0" r="-79943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92423" y="1218378"/>
            <a:ext cx="13303153" cy="90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4"/>
              </a:lnSpc>
              <a:spcBef>
                <a:spcPct val="0"/>
              </a:spcBef>
            </a:pPr>
            <a:r>
              <a:rPr lang="en-US" b="true" sz="4755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Tes Inference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05242"/>
            <a:ext cx="7397171" cy="548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Inferensi model diuji pada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mp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data dunia nyata yang dikurasi dari artikel klarifikasi hoaks terkait deepfake di situs resmi 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Komdigi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dan 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Cekfakta Tempo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di mana video palsu diekstraksi dari arsip berita tersebut.</a:t>
            </a:r>
          </a:p>
          <a:p>
            <a:pPr algn="just">
              <a:lnSpc>
                <a:spcPts val="3099"/>
              </a:lnSpc>
            </a:pPr>
          </a:p>
          <a:p>
            <a:pPr algn="just">
              <a:lnSpc>
                <a:spcPts val="30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Video asli diperoleh dari sumber rekaman sebelum dimanipulasi dan video autentik lain dengan publik figur yang sama yang telah diverifikasi bukan deepfake dari beragam media online.</a:t>
            </a:r>
          </a:p>
          <a:p>
            <a:pPr algn="just">
              <a:lnSpc>
                <a:spcPts val="3099"/>
              </a:lnSpc>
            </a:pPr>
          </a:p>
          <a:p>
            <a:pPr algn="just" marL="0" indent="0" lvl="0">
              <a:lnSpc>
                <a:spcPts val="30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Total terdiri dari 100 video, </a:t>
            </a: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50 video real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dan </a:t>
            </a: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50 video fake.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47365" y="8059892"/>
            <a:ext cx="2291771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99"/>
              </a:lnSpc>
            </a:pPr>
            <a:r>
              <a:rPr lang="en-US" b="true" sz="2499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FAKE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57091" y="8059892"/>
            <a:ext cx="2291771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99"/>
              </a:lnSpc>
            </a:pPr>
            <a:r>
              <a:rPr lang="en-US" b="true" sz="2499">
                <a:solidFill>
                  <a:srgbClr val="70AD47"/>
                </a:solidFill>
                <a:latin typeface="Poppins Bold"/>
                <a:ea typeface="Poppins Bold"/>
                <a:cs typeface="Poppins Bold"/>
                <a:sym typeface="Poppins Bold"/>
              </a:rPr>
              <a:t>REAL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746740" y="2745641"/>
          <a:ext cx="11315700" cy="5943600"/>
        </p:xfrm>
        <a:graphic>
          <a:graphicData uri="http://schemas.openxmlformats.org/presentationml/2006/ole">
            <p:oleObj imgW="13576300" imgH="8204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492423" y="1218378"/>
            <a:ext cx="13303153" cy="90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4"/>
              </a:lnSpc>
              <a:spcBef>
                <a:spcPct val="0"/>
              </a:spcBef>
            </a:pPr>
            <a:r>
              <a:rPr lang="en-US" b="true" sz="4755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Hasil Tes Inference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98109" y="2879562"/>
            <a:ext cx="14633798" cy="5670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06"/>
              </a:lnSpc>
              <a:spcBef>
                <a:spcPct val="0"/>
              </a:spcBef>
            </a:pPr>
            <a:r>
              <a:rPr lang="en-US" b="true" sz="2899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Superioritas Skala &amp;</a:t>
            </a:r>
            <a:r>
              <a:rPr lang="en-US" b="true" sz="2899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 Keragaman Data</a:t>
            </a:r>
          </a:p>
          <a:p>
            <a:pPr algn="just">
              <a:lnSpc>
                <a:spcPts val="400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Kinerja optimal </a:t>
            </a:r>
            <a:r>
              <a:rPr lang="en-US" b="true" sz="26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(ROC-AUC 0.9256)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hanya dicapai dengan melatih model pada tiga dataset berbeda (V4), membuktikan pentingnya generalisasi.</a:t>
            </a:r>
          </a:p>
          <a:p>
            <a:pPr algn="just">
              <a:lnSpc>
                <a:spcPts val="4009"/>
              </a:lnSpc>
              <a:spcBef>
                <a:spcPct val="0"/>
              </a:spcBef>
            </a:pPr>
          </a:p>
          <a:p>
            <a:pPr algn="just">
              <a:lnSpc>
                <a:spcPts val="4306"/>
              </a:lnSpc>
              <a:spcBef>
                <a:spcPct val="0"/>
              </a:spcBef>
            </a:pPr>
            <a:r>
              <a:rPr lang="en-US" b="true" sz="2899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Efektivitas Arsitektur LIPINC</a:t>
            </a:r>
          </a:p>
          <a:p>
            <a:pPr algn="just">
              <a:lnSpc>
                <a:spcPts val="400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Kombinasi VTT 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(input residu, dan </a:t>
            </a:r>
            <a:r>
              <a:rPr lang="en-US" sz="2699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consistency loss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t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erbukti efektif dalam menangkap inkonsistensi</a:t>
            </a:r>
            <a:r>
              <a:rPr lang="en-US" sz="2699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spatio-temporal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yang halus pada video </a:t>
            </a:r>
            <a:r>
              <a:rPr lang="en-US" sz="2699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deepfake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4009"/>
              </a:lnSpc>
              <a:spcBef>
                <a:spcPct val="0"/>
              </a:spcBef>
            </a:pPr>
          </a:p>
          <a:p>
            <a:pPr algn="just">
              <a:lnSpc>
                <a:spcPts val="4306"/>
              </a:lnSpc>
              <a:spcBef>
                <a:spcPct val="0"/>
              </a:spcBef>
            </a:pPr>
            <a:r>
              <a:rPr lang="en-US" b="true" sz="2899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Nilai Tambah Pra-pemrosesan</a:t>
            </a:r>
          </a:p>
          <a:p>
            <a:pPr algn="just">
              <a:lnSpc>
                <a:spcPts val="4011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enyesuaian wajah yang akurat </a:t>
            </a:r>
            <a:r>
              <a:rPr lang="en-US" b="true" sz="26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(MediaPipe) </a:t>
            </a: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dapat menjadi substitusi yang efektif untuk keragaman data ketika sumber data pelatihan terbatas.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35837" y="2984337"/>
            <a:ext cx="740307" cy="1130240"/>
          </a:xfrm>
          <a:custGeom>
            <a:avLst/>
            <a:gdLst/>
            <a:ahLst/>
            <a:cxnLst/>
            <a:rect r="r" b="b" t="t" l="l"/>
            <a:pathLst>
              <a:path h="1130240" w="740307">
                <a:moveTo>
                  <a:pt x="0" y="0"/>
                </a:moveTo>
                <a:lnTo>
                  <a:pt x="740307" y="0"/>
                </a:lnTo>
                <a:lnTo>
                  <a:pt x="740307" y="1130240"/>
                </a:lnTo>
                <a:lnTo>
                  <a:pt x="0" y="11302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041737"/>
            <a:ext cx="954582" cy="1130240"/>
          </a:xfrm>
          <a:custGeom>
            <a:avLst/>
            <a:gdLst/>
            <a:ahLst/>
            <a:cxnLst/>
            <a:rect r="r" b="b" t="t" l="l"/>
            <a:pathLst>
              <a:path h="1130240" w="954582">
                <a:moveTo>
                  <a:pt x="0" y="0"/>
                </a:moveTo>
                <a:lnTo>
                  <a:pt x="954582" y="0"/>
                </a:lnTo>
                <a:lnTo>
                  <a:pt x="954582" y="1130240"/>
                </a:lnTo>
                <a:lnTo>
                  <a:pt x="0" y="11302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0142" y="7095902"/>
            <a:ext cx="913139" cy="1130240"/>
          </a:xfrm>
          <a:custGeom>
            <a:avLst/>
            <a:gdLst/>
            <a:ahLst/>
            <a:cxnLst/>
            <a:rect r="r" b="b" t="t" l="l"/>
            <a:pathLst>
              <a:path h="1130240" w="913139">
                <a:moveTo>
                  <a:pt x="0" y="0"/>
                </a:moveTo>
                <a:lnTo>
                  <a:pt x="913140" y="0"/>
                </a:lnTo>
                <a:lnTo>
                  <a:pt x="913140" y="1130239"/>
                </a:lnTo>
                <a:lnTo>
                  <a:pt x="0" y="11302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147827" y="1264455"/>
            <a:ext cx="13303153" cy="90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4"/>
              </a:lnSpc>
              <a:spcBef>
                <a:spcPct val="0"/>
              </a:spcBef>
            </a:pPr>
            <a:r>
              <a:rPr lang="en-US" b="true" sz="4755">
                <a:solidFill>
                  <a:srgbClr val="00416B"/>
                </a:solidFill>
                <a:latin typeface="Poppins Bold"/>
                <a:ea typeface="Poppins Bold"/>
                <a:cs typeface="Poppins Bold"/>
                <a:sym typeface="Poppins Bold"/>
              </a:rPr>
              <a:t>Kesimpulan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41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5847741" y="7846741"/>
            <a:ext cx="536733" cy="4343781"/>
            <a:chOff x="0" y="0"/>
            <a:chExt cx="715644" cy="57917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5645" cy="5791708"/>
            </a:xfrm>
            <a:custGeom>
              <a:avLst/>
              <a:gdLst/>
              <a:ahLst/>
              <a:cxnLst/>
              <a:rect r="r" b="b" t="t" l="l"/>
              <a:pathLst>
                <a:path h="5791708" w="715645">
                  <a:moveTo>
                    <a:pt x="0" y="0"/>
                  </a:moveTo>
                  <a:lnTo>
                    <a:pt x="715645" y="0"/>
                  </a:lnTo>
                  <a:lnTo>
                    <a:pt x="715645" y="5791708"/>
                  </a:lnTo>
                  <a:lnTo>
                    <a:pt x="0" y="5791708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6703741" y="3046522"/>
            <a:ext cx="536733" cy="13944219"/>
            <a:chOff x="0" y="0"/>
            <a:chExt cx="715644" cy="185922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5645" cy="18592292"/>
            </a:xfrm>
            <a:custGeom>
              <a:avLst/>
              <a:gdLst/>
              <a:ahLst/>
              <a:cxnLst/>
              <a:rect r="r" b="b" t="t" l="l"/>
              <a:pathLst>
                <a:path h="18592292" w="715645">
                  <a:moveTo>
                    <a:pt x="0" y="0"/>
                  </a:moveTo>
                  <a:lnTo>
                    <a:pt x="715645" y="0"/>
                  </a:lnTo>
                  <a:lnTo>
                    <a:pt x="715645" y="18592292"/>
                  </a:lnTo>
                  <a:lnTo>
                    <a:pt x="0" y="18592292"/>
                  </a:lnTo>
                  <a:close/>
                </a:path>
              </a:pathLst>
            </a:custGeom>
            <a:solidFill>
              <a:srgbClr val="FDD40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742598" y="9828132"/>
            <a:ext cx="837895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315">
                <a:solidFill>
                  <a:srgbClr val="00416B"/>
                </a:solidFill>
                <a:latin typeface="Arimo"/>
                <a:ea typeface="Arimo"/>
                <a:cs typeface="Arimo"/>
                <a:sym typeface="Arimo"/>
              </a:rPr>
              <a:t>LOCALLY ROOTED, GLOBALLY RESPECTED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11044" y="9828132"/>
            <a:ext cx="204825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450">
                <a:solidFill>
                  <a:srgbClr val="00416B"/>
                </a:solidFill>
                <a:latin typeface="Arimo"/>
                <a:ea typeface="Arimo"/>
                <a:cs typeface="Arimo"/>
                <a:sym typeface="Arimo"/>
              </a:rPr>
              <a:t>ugm.ac.id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44884" y="5493639"/>
            <a:ext cx="6155876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9"/>
              </a:lnSpc>
            </a:pPr>
            <a:r>
              <a:rPr lang="en-US" sz="6024">
                <a:solidFill>
                  <a:srgbClr val="FFFFFF"/>
                </a:solidFill>
                <a:latin typeface="Pacifico"/>
                <a:ea typeface="Pacifico"/>
                <a:cs typeface="Pacifico"/>
                <a:sym typeface="Pacifico"/>
              </a:rPr>
              <a:t>T</a:t>
            </a:r>
            <a:r>
              <a:rPr lang="en-US" sz="6024">
                <a:solidFill>
                  <a:srgbClr val="FFFFFF"/>
                </a:solidFill>
                <a:latin typeface="Pacifico"/>
                <a:ea typeface="Pacifico"/>
                <a:cs typeface="Pacifico"/>
                <a:sym typeface="Pacifico"/>
              </a:rPr>
              <a:t>erima Kasih</a:t>
            </a:r>
          </a:p>
          <a:p>
            <a:pPr algn="l">
              <a:lnSpc>
                <a:spcPts val="722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137618" y="2836259"/>
            <a:ext cx="9150668" cy="6091903"/>
          </a:xfrm>
          <a:custGeom>
            <a:avLst/>
            <a:gdLst/>
            <a:ahLst/>
            <a:cxnLst/>
            <a:rect r="r" b="b" t="t" l="l"/>
            <a:pathLst>
              <a:path h="6091903" w="9150668">
                <a:moveTo>
                  <a:pt x="0" y="0"/>
                </a:moveTo>
                <a:lnTo>
                  <a:pt x="9150667" y="0"/>
                </a:lnTo>
                <a:lnTo>
                  <a:pt x="9150667" y="6091903"/>
                </a:lnTo>
                <a:lnTo>
                  <a:pt x="0" y="60919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788318" y="1723432"/>
            <a:ext cx="6942392" cy="1980212"/>
            <a:chOff x="0" y="0"/>
            <a:chExt cx="9256522" cy="26402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56522" cy="2640330"/>
            </a:xfrm>
            <a:custGeom>
              <a:avLst/>
              <a:gdLst/>
              <a:ahLst/>
              <a:cxnLst/>
              <a:rect r="r" b="b" t="t" l="l"/>
              <a:pathLst>
                <a:path h="2640330" w="9256522">
                  <a:moveTo>
                    <a:pt x="0" y="0"/>
                  </a:moveTo>
                  <a:lnTo>
                    <a:pt x="9256522" y="0"/>
                  </a:lnTo>
                  <a:lnTo>
                    <a:pt x="9256522" y="2640330"/>
                  </a:lnTo>
                  <a:lnTo>
                    <a:pt x="0" y="26403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DAG6OcEWbVE</dc:identifier>
  <dcterms:modified xsi:type="dcterms:W3CDTF">2011-08-01T06:04:30Z</dcterms:modified>
  <cp:revision>1</cp:revision>
  <dc:title>Presentasi CVL</dc:title>
</cp:coreProperties>
</file>